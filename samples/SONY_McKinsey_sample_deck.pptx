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Flags</c:v>
                </c:pt>
              </c:strCache>
            </c:strRef>
          </c:tx>
          <c:spPr>
            <a:solidFill>
              <a:srgbClr val="1A1A2E"/>
            </a:solidFill>
          </c:spPr>
          <c:cat>
            <c:strRef>
              <c:f>Sheet1!$A$2:$A$7</c:f>
              <c:strCache>
                <c:ptCount val="6"/>
                <c:pt idx="0">
                  <c:v>Forward-Looking</c:v>
                </c:pt>
                <c:pt idx="1">
                  <c:v>Legal</c:v>
                </c:pt>
                <c:pt idx="2">
                  <c:v>Governance</c:v>
                </c:pt>
                <c:pt idx="3">
                  <c:v>Regulatory</c:v>
                </c:pt>
                <c:pt idx="4">
                  <c:v>Operational</c:v>
                </c:pt>
                <c:pt idx="5">
                  <c:v>Financial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12</c:v>
                </c:pt>
                <c:pt idx="2">
                  <c:v>71</c:v>
                </c:pt>
                <c:pt idx="3">
                  <c:v>20</c:v>
                </c:pt>
                <c:pt idx="4">
                  <c:v>17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SONY: RedFlag Risk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SEC EDGAR (20-F / Foreign Private Issuer)  |  2025-06-20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4389120"/>
            <a:ext cx="3474720" cy="137160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CRITICAL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Total: 133  |  HIGH: 8  |  MEDIUM: 8  |  LOW: 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AAAA"/>
                </a:solidFill>
              </a:defRPr>
            </a:pPr>
            <a:r>
              <a:t>RedFlag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Risk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24B4A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F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F9F27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MEDIUM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B6D11"/>
                </a:solidFill>
              </a:defRPr>
            </a:pPr>
            <a: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New Keywords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0" y="1371600"/>
            <a:ext cx="17373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0.033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Avg Sentiment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Risk Heat Map   Findings by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11277295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All Flags by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566160" cy="41148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 (8)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Pg76   no assurance   Item 1A</a:t>
            </a:r>
          </a:p>
          <a:p>
            <a:pPr>
              <a:defRPr sz="900"/>
            </a:pPr>
            <a:r>
              <a:t>Pg76   no assurance   Item 1A</a:t>
            </a:r>
          </a:p>
          <a:p>
            <a:pPr>
              <a:defRPr sz="900"/>
            </a:pPr>
            <a:r>
              <a:t>Pg76   no assurance   Item 1A</a:t>
            </a:r>
          </a:p>
          <a:p>
            <a:pPr>
              <a:defRPr sz="900"/>
            </a:pPr>
            <a:r>
              <a:t>Pg100   no assurance   Item 6</a:t>
            </a:r>
          </a:p>
          <a:p>
            <a:pPr>
              <a:defRPr sz="900"/>
            </a:pPr>
            <a:r>
              <a:t>Pg183   restatement   Item 11</a:t>
            </a:r>
          </a:p>
          <a:p>
            <a:pPr>
              <a:defRPr sz="900"/>
            </a:pPr>
            <a:r>
              <a:t>Pg183   restatement   Item 11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material weakness   Item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914400"/>
            <a:ext cx="3566160" cy="411480"/>
          </a:xfrm>
          <a:prstGeom prst="rect">
            <a:avLst/>
          </a:prstGeom>
          <a:solidFill>
            <a:srgbClr val="EF9F2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  (8)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Pg183   clawback   Item 11</a:t>
            </a:r>
          </a:p>
          <a:p>
            <a:pPr>
              <a:defRPr sz="900"/>
            </a:pPr>
            <a:r>
              <a:t>Pg183   succession plan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conflicts of interest   Item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914400"/>
            <a:ext cx="3566160" cy="411480"/>
          </a:xfrm>
          <a:prstGeom prst="rect">
            <a:avLst/>
          </a:prstGeom>
          <a:solidFill>
            <a:srgbClr val="3B6D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 (20)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Pg100   sanctions   Item 6</a:t>
            </a:r>
          </a:p>
          <a:p>
            <a:pPr>
              <a:defRPr sz="900"/>
            </a:pPr>
            <a:r>
              <a:t>Pg76   audit committee   Item 1A</a:t>
            </a:r>
          </a:p>
          <a:p>
            <a:pPr>
              <a:defRPr sz="900"/>
            </a:pPr>
            <a:r>
              <a:t>Pg76   audit committee   Item 1A</a:t>
            </a:r>
          </a:p>
          <a:p>
            <a:pPr>
              <a:defRPr sz="900"/>
            </a:pPr>
            <a:r>
              <a:t>Pg76   audit committee   Item 1A</a:t>
            </a:r>
          </a:p>
          <a:p>
            <a:pPr>
              <a:defRPr sz="900"/>
            </a:pPr>
            <a:r>
              <a:t>Pg76   strike   Item 1A</a:t>
            </a:r>
          </a:p>
          <a:p>
            <a:pPr>
              <a:defRPr sz="900"/>
            </a:pPr>
            <a:r>
              <a:t>Pg76   key person   Item 1A</a:t>
            </a:r>
          </a:p>
          <a:p>
            <a:pPr>
              <a:defRPr sz="900"/>
            </a:pPr>
            <a:r>
              <a:t>Pg76   key person   Item 1A</a:t>
            </a:r>
          </a:p>
          <a:p>
            <a:pPr>
              <a:defRPr sz="900"/>
            </a:pPr>
            <a:r>
              <a:t>Pg76   key person   Item 1A</a:t>
            </a:r>
          </a:p>
          <a:p>
            <a:pPr>
              <a:defRPr sz="900"/>
            </a:pPr>
            <a:r>
              <a:t>Pg76   strike   Item 1A</a:t>
            </a:r>
          </a:p>
          <a:p>
            <a:pPr>
              <a:defRPr sz="900"/>
            </a:pPr>
            <a:r>
              <a:t>Pg76   strike   Item 1A</a:t>
            </a:r>
          </a:p>
          <a:p>
            <a:pPr>
              <a:defRPr sz="900"/>
            </a:pPr>
            <a:r>
              <a:t>Pg100   sanctions   Item 6</a:t>
            </a:r>
          </a:p>
          <a:p>
            <a:pPr>
              <a:defRPr sz="900"/>
            </a:pPr>
            <a:r>
              <a:t>Pg100   sanctions   Item 6</a:t>
            </a:r>
          </a:p>
          <a:p>
            <a:pPr>
              <a:defRPr sz="900"/>
            </a:pPr>
            <a:r>
              <a:t>Pg100   sanctions   Item 6</a:t>
            </a:r>
          </a:p>
          <a:p>
            <a:pPr>
              <a:defRPr sz="900"/>
            </a:pPr>
            <a:r>
              <a:t>Pg77   legal proceedings   Item 7A</a:t>
            </a:r>
          </a:p>
          <a:p>
            <a:pPr>
              <a:defRPr sz="900"/>
            </a:pPr>
            <a:r>
              <a:t>Pg77   legal proceedings   Item 7A</a:t>
            </a:r>
          </a:p>
          <a:p>
            <a:pPr>
              <a:defRPr sz="900"/>
            </a:pPr>
            <a:r>
              <a:t>Pg77   legal proceedings   Item 7A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All Flags by Tier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566160" cy="41148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 (0)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4206240" y="914400"/>
            <a:ext cx="3566160" cy="411480"/>
          </a:xfrm>
          <a:prstGeom prst="rect">
            <a:avLst/>
          </a:prstGeom>
          <a:solidFill>
            <a:srgbClr val="EF9F2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  (0)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8046720" y="914400"/>
            <a:ext cx="3566160" cy="411480"/>
          </a:xfrm>
          <a:prstGeom prst="rect">
            <a:avLst/>
          </a:prstGeom>
          <a:solidFill>
            <a:srgbClr val="3B6D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 (97)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Pg200   audit committee   Item 9A</a:t>
            </a:r>
          </a:p>
          <a:p>
            <a:pPr>
              <a:defRPr sz="900"/>
            </a:pPr>
            <a:r>
              <a:t>Pg183   clawback   Item 11</a:t>
            </a:r>
          </a:p>
          <a:p>
            <a:pPr>
              <a:defRPr sz="900"/>
            </a:pPr>
            <a:r>
              <a:t>Pg183   clawback   Item 11</a:t>
            </a:r>
          </a:p>
          <a:p>
            <a:pPr>
              <a:defRPr sz="900"/>
            </a:pPr>
            <a:r>
              <a:t>Pg183   clawback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succession plan   Item 11</a:t>
            </a:r>
          </a:p>
          <a:p>
            <a:pPr>
              <a:defRPr sz="900"/>
            </a:pPr>
            <a:r>
              <a:t>Pg183   succession plan   Item 11</a:t>
            </a:r>
          </a:p>
          <a:p>
            <a:pPr>
              <a:defRPr sz="900"/>
            </a:pPr>
            <a:r>
              <a:t>Pg183   succession plan   Item 11</a:t>
            </a:r>
          </a:p>
          <a:p>
            <a:pPr>
              <a:defRPr sz="900"/>
            </a:pPr>
            <a:r>
              <a:t>Pg183   succession plan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Pg183   audit committee   Item 11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insider trading   Item 14</a:t>
            </a:r>
          </a:p>
          <a:p>
            <a:pPr>
              <a:defRPr sz="900"/>
            </a:pPr>
            <a:r>
              <a:t>Pg244   insider trading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Pg244   insider trading   Item 14</a:t>
            </a:r>
          </a:p>
          <a:p>
            <a:pPr>
              <a:defRPr sz="900"/>
            </a:pPr>
            <a:r>
              <a:t>Pg244   audit committee   Item 14</a:t>
            </a:r>
          </a:p>
          <a:p>
            <a:pPr>
              <a:defRPr sz="900"/>
            </a:pPr>
            <a:r>
              <a:t>Pg76   related party transaction   Item 1A</a:t>
            </a:r>
          </a:p>
          <a:p>
            <a:pPr>
              <a:defRPr sz="900"/>
            </a:pPr>
            <a:r>
              <a:t>Pg76   related party transaction   Item 1A</a:t>
            </a:r>
          </a:p>
          <a:p>
            <a:pPr>
              <a:defRPr sz="900"/>
            </a:pPr>
            <a:r>
              <a:t>Pg76   legal proceedings   Item 1A</a:t>
            </a:r>
          </a:p>
          <a:p>
            <a:pPr>
              <a:defRPr sz="900"/>
            </a:pPr>
            <a:r>
              <a:t>Pg76   dilution   Item 1A</a:t>
            </a:r>
          </a:p>
          <a:p>
            <a:pPr>
              <a:defRPr sz="900"/>
            </a:pPr>
            <a:r>
              <a:t>Pg76   default   Item 1A</a:t>
            </a:r>
          </a:p>
          <a:p>
            <a:pPr>
              <a:defRPr sz="900"/>
            </a:pPr>
            <a:r>
              <a:t>Pg76   insider trading   Item 1A</a:t>
            </a:r>
          </a:p>
          <a:p>
            <a:pPr>
              <a:defRPr sz="900"/>
            </a:pPr>
            <a:r>
              <a:t>Pg76   pricing pressure   Item 1A</a:t>
            </a:r>
          </a:p>
          <a:p>
            <a:pPr>
              <a:defRPr sz="900"/>
            </a:pPr>
            <a:r>
              <a:t>Pg76   AML   Item 1A</a:t>
            </a:r>
          </a:p>
          <a:p>
            <a:pPr>
              <a:defRPr sz="900"/>
            </a:pPr>
            <a:r>
              <a:t>Pg76   regulatory approval   Item 1A</a:t>
            </a:r>
          </a:p>
          <a:p>
            <a:pPr>
              <a:defRPr sz="900"/>
            </a:pPr>
            <a:r>
              <a:t>Pg76   regulatory approval   Item 1A</a:t>
            </a:r>
          </a:p>
          <a:p>
            <a:pPr>
              <a:defRPr sz="900"/>
            </a:pPr>
            <a:r>
              <a:t>Pg76   conflicts of interest   Item 1A</a:t>
            </a:r>
          </a:p>
          <a:p>
            <a:pPr>
              <a:defRPr sz="900"/>
            </a:pPr>
            <a:r>
              <a:t>Pg76   may not be able   Item 1A</a:t>
            </a:r>
          </a:p>
          <a:p>
            <a:pPr>
              <a:defRPr sz="900"/>
            </a:pPr>
            <a:r>
              <a:t>Pg76   sanctions   Item 1A</a:t>
            </a:r>
          </a:p>
          <a:p>
            <a:pPr>
              <a:defRPr sz="900"/>
            </a:pPr>
            <a:r>
              <a:t>Pg76   product liability   Item 1A</a:t>
            </a:r>
          </a:p>
          <a:p>
            <a:pPr>
              <a:defRPr sz="900"/>
            </a:pPr>
            <a:r>
              <a:t>Pg76   export control   Item 1A</a:t>
            </a:r>
          </a:p>
          <a:p>
            <a:pPr>
              <a:defRPr sz="900"/>
            </a:pPr>
            <a:r>
              <a:t>Pg76   tariff   Item 1A</a:t>
            </a:r>
          </a:p>
          <a:p>
            <a:pPr>
              <a:defRPr sz="900"/>
            </a:pPr>
            <a:r>
              <a:t>Pg76   reputational damage   Item 1A</a:t>
            </a:r>
          </a:p>
          <a:p>
            <a:pPr>
              <a:defRPr sz="900"/>
            </a:pPr>
            <a:r>
              <a:t>Pg76   non-compliance   Item 1A</a:t>
            </a:r>
          </a:p>
          <a:p>
            <a:pPr>
              <a:defRPr sz="900"/>
            </a:pPr>
            <a:r>
              <a:t>Pg76   non-compliance   Item 1A</a:t>
            </a:r>
          </a:p>
          <a:p>
            <a:pPr>
              <a:defRPr sz="900"/>
            </a:pPr>
            <a:r>
              <a:t>Pg76   tariff   Item 1A</a:t>
            </a:r>
          </a:p>
          <a:p>
            <a:pPr>
              <a:defRPr sz="900"/>
            </a:pPr>
            <a:r>
              <a:t>Pg76   injunction   Item 1A</a:t>
            </a:r>
          </a:p>
          <a:p>
            <a:pPr>
              <a:defRPr sz="900"/>
            </a:pPr>
            <a:r>
              <a:t>Pg129   strike   Item 1B</a:t>
            </a:r>
          </a:p>
          <a:p>
            <a:pPr>
              <a:defRPr sz="900"/>
            </a:pPr>
            <a:r>
              <a:t>Pg129   strike   Item 1B</a:t>
            </a:r>
          </a:p>
          <a:p>
            <a:pPr>
              <a:defRPr sz="900"/>
            </a:pPr>
            <a:r>
              <a:t>Pg129   interest rate sensitivity   Item 1B</a:t>
            </a:r>
          </a:p>
          <a:p>
            <a:pPr>
              <a:defRPr sz="900"/>
            </a:pPr>
            <a:r>
              <a:t>Pg129   AML   Item 1B</a:t>
            </a:r>
          </a:p>
          <a:p>
            <a:pPr>
              <a:defRPr sz="900"/>
            </a:pPr>
            <a:r>
              <a:t>Pg100   government regulation   Item 6</a:t>
            </a:r>
          </a:p>
          <a:p>
            <a:pPr>
              <a:defRPr sz="900"/>
            </a:pPr>
            <a:r>
              <a:t>Pg77   litigation   Item 7A</a:t>
            </a:r>
          </a:p>
          <a:p>
            <a:pPr>
              <a:defRPr sz="900"/>
            </a:pPr>
            <a:r>
              <a:t>Pg77   litigation   Item 7A</a:t>
            </a:r>
          </a:p>
          <a:p>
            <a:pPr>
              <a:defRPr sz="900"/>
            </a:pPr>
            <a:r>
              <a:t>Pg77   antitrust   Item 7A</a:t>
            </a:r>
          </a:p>
          <a:p>
            <a:pPr>
              <a:defRPr sz="900"/>
            </a:pPr>
            <a:r>
              <a:t>Pg210   dilution   Item 9</a:t>
            </a:r>
          </a:p>
          <a:p>
            <a:pPr>
              <a:defRPr sz="900"/>
            </a:pPr>
            <a:r>
              <a:t>Pg210   injunction   Item 9</a:t>
            </a:r>
          </a:p>
          <a:p>
            <a:pPr>
              <a:defRPr sz="900"/>
            </a:pPr>
            <a:r>
              <a:t>Pg200   geopolitical risk   Item 9A</a:t>
            </a:r>
          </a:p>
          <a:p>
            <a:pPr>
              <a:defRPr sz="900"/>
            </a:pPr>
            <a:r>
              <a:t>Pg200   succession plan   Item 9A</a:t>
            </a:r>
          </a:p>
          <a:p>
            <a:pPr>
              <a:defRPr sz="900"/>
            </a:pPr>
            <a:r>
              <a:t>Pg200   succession plan   Item 9A</a:t>
            </a:r>
          </a:p>
          <a:p>
            <a:pPr>
              <a:defRPr sz="900"/>
            </a:pPr>
            <a:r>
              <a:t>Pg200   SOX 404   Item 9A</a:t>
            </a:r>
          </a:p>
          <a:p>
            <a:pPr>
              <a:defRPr sz="900"/>
            </a:pPr>
            <a:r>
              <a:t>Pg200   related party transaction   Item 9A</a:t>
            </a:r>
          </a:p>
          <a:p>
            <a:pPr>
              <a:defRPr sz="900"/>
            </a:pPr>
            <a:r>
              <a:t>Pg200   related party transaction   Item 9A</a:t>
            </a:r>
          </a:p>
          <a:p>
            <a:pPr>
              <a:defRPr sz="900"/>
            </a:pPr>
            <a:r>
              <a:t>Pg200   legal proceedings   Item 9A</a:t>
            </a:r>
          </a:p>
          <a:p>
            <a:pPr>
              <a:defRPr sz="900"/>
            </a:pPr>
            <a:r>
              <a:t>Pg183   dilution   Item 11</a:t>
            </a:r>
          </a:p>
          <a:p>
            <a:pPr>
              <a:defRPr sz="900"/>
            </a:pPr>
            <a:r>
              <a:t>Pg183   litigation   Item 11</a:t>
            </a:r>
          </a:p>
          <a:p>
            <a:pPr>
              <a:defRPr sz="900"/>
            </a:pPr>
            <a:r>
              <a:t>Pg244   board independence   Item 14</a:t>
            </a:r>
          </a:p>
          <a:p>
            <a:pPr>
              <a:defRPr sz="900"/>
            </a:pPr>
            <a:r>
              <a:t>Pg244   clawback   Item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Top 3 Flags to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155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1. no assurance     Item 1A  (Pg 76)  [Forward-Looking]</a:t>
            </a:r>
          </a:p>
          <a:p>
            <a:pPr>
              <a:defRPr sz="900"/>
            </a:pPr>
            <a:r>
              <a:t>However, there is no assurance that third-party software developers and publishers, major contributors to this effort, w</a:t>
            </a:r>
          </a:p>
          <a:p>
            <a:pPr>
              <a:defRPr sz="900">
                <a:solidFill>
                  <a:srgbClr val="444444"/>
                </a:solidFill>
              </a:defRPr>
            </a:pPr>
            <a:r>
              <a:t>Management is explicitly qualifying their own forward guidance with uncertainty language. Paired with other high-severity flags, this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926080"/>
            <a:ext cx="11155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2. no assurance     Item 1A  (Pg 76)  [Forward-Looking]</a:t>
            </a:r>
          </a:p>
          <a:p>
            <a:pPr>
              <a:defRPr sz="900"/>
            </a:pPr>
            <a:r>
              <a:t>Sony invests in programs to incentivize wholesalers, retailers, and other resellers and third-party distributors to posi</a:t>
            </a:r>
          </a:p>
          <a:p>
            <a:pPr>
              <a:defRPr sz="900">
                <a:solidFill>
                  <a:srgbClr val="444444"/>
                </a:solidFill>
              </a:defRPr>
            </a:pPr>
            <a:r>
              <a:t>Management is explicitly qualifying their own forward guidance with uncertainty language. Paired with other high-severity flags, this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73152" cy="1737360"/>
          </a:xfrm>
          <a:prstGeom prst="rect">
            <a:avLst/>
          </a:prstGeom>
          <a:solidFill>
            <a:srgbClr val="E24B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846320"/>
            <a:ext cx="11155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3. no assurance     Item 1A  (Pg 76)  [Forward-Looking]</a:t>
            </a:r>
          </a:p>
          <a:p>
            <a:pPr>
              <a:defRPr sz="900"/>
            </a:pPr>
            <a:r>
              <a:t>There can be no assurance that such sources will continue to be available on acceptable terms or be sufficient to meet S</a:t>
            </a:r>
          </a:p>
          <a:p>
            <a:pPr>
              <a:defRPr sz="900">
                <a:solidFill>
                  <a:srgbClr val="444444"/>
                </a:solidFill>
              </a:defRPr>
            </a:pPr>
            <a:r>
              <a:t>Management is explicitly qualifying their own forward guidance with uncertainty language. Paired with other high-severity flags, this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New Keywords This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Absent in prior year's 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640080"/>
          </a:xfrm>
          <a:prstGeom prst="rect">
            <a:avLst/>
          </a:prstGeom>
          <a:solidFill>
            <a:srgbClr val="E8E8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SOX 404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Regulatory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371600"/>
            <a:ext cx="2743200" cy="640080"/>
          </a:xfrm>
          <a:prstGeom prst="rect">
            <a:avLst/>
          </a:prstGeom>
          <a:solidFill>
            <a:srgbClr val="E8E8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antitrust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Regulatory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2743200" cy="640080"/>
          </a:xfrm>
          <a:prstGeom prst="rect">
            <a:avLst/>
          </a:prstGeom>
          <a:solidFill>
            <a:srgbClr val="E8E8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export control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Regulatory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371600"/>
            <a:ext cx="2743200" cy="640080"/>
          </a:xfrm>
          <a:prstGeom prst="rect">
            <a:avLst/>
          </a:prstGeom>
          <a:solidFill>
            <a:srgbClr val="E8E8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interest rate sensitivity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Forward-Looking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743200" cy="640080"/>
          </a:xfrm>
          <a:prstGeom prst="rect">
            <a:avLst/>
          </a:prstGeom>
          <a:solidFill>
            <a:srgbClr val="E8E8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tariff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Forward-Looking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Year-Over-Year Risk Trajectory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097280"/>
            <a:ext cx="7619695" cy="164592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1A2E"/>
                </a:solidFill>
              </a:defRPr>
            </a:pPr>
            <a:r>
              <a:t>Category                Prior Year     This Year   Delta</a:t>
            </a:r>
          </a:p>
          <a:p>
            <a:pPr>
              <a:defRPr sz="1000"/>
            </a:pPr>
            <a:r>
              <a:t>Regulatory                     18       20   (+2)</a:t>
            </a:r>
          </a:p>
          <a:p>
            <a:pPr>
              <a:defRPr sz="1000"/>
            </a:pPr>
            <a:r>
              <a:t>Operational                    17       17   (0)</a:t>
            </a:r>
          </a:p>
          <a:p>
            <a:pPr>
              <a:defRPr sz="1000"/>
            </a:pPr>
            <a:r>
              <a:t>Legal                          10       12   (+2)</a:t>
            </a:r>
          </a:p>
          <a:p>
            <a:pPr>
              <a:defRPr sz="1000"/>
            </a:pPr>
            <a:r>
              <a:t>Governance                     66       71   (+5)</a:t>
            </a:r>
          </a:p>
          <a:p>
            <a:pPr>
              <a:defRPr sz="1000"/>
            </a:pPr>
            <a:r>
              <a:t>Forward-Looking                 7        9   (+2)</a:t>
            </a:r>
          </a:p>
          <a:p>
            <a:pPr>
              <a:defRPr sz="1000"/>
            </a:pPr>
            <a:r>
              <a:t>Financial                       5        4   (-1)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Source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Filing: SONY  |  SEC EDGAR (20-F / Foreign Private Issuer)  |  2025-06-20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Keywords Scanned: 220+ across 6 risk categories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Sections Analyzed: All 18 standard 10-K items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Severity Scoring: Rule-based, clamped 0-100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Explanation Engine: Claude API (claude-haiku-4-5-20251001) + fallback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github.com/zshqv/RedFlag</a:t>
            </a:r>
          </a:p>
          <a:p>
            <a:pPr>
              <a:spcBef>
                <a:spcPts val="400"/>
              </a:spcBef>
              <a:defRPr sz="1100">
                <a:solidFill>
                  <a:srgbClr val="FFCC00"/>
                </a:solidFill>
              </a:defRPr>
            </a:pPr>
            <a:r>
              <a:t>Not financial advice. For due diligence purposes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